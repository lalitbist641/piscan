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Detected 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Agentic</c:v>
                  </c:pt>
                  <c:pt idx="1">
                    <c:v>Direct</c:v>
                  </c:pt>
                  <c:pt idx="2">
                    <c:v>Extraction</c:v>
                  </c:pt>
                  <c:pt idx="3">
                    <c:v>Indirect</c:v>
                  </c:pt>
                  <c:pt idx="4">
                    <c:v>Encoding</c:v>
                  </c:pt>
                  <c:pt idx="5">
                    <c:v>Role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74</c:v>
                </c:pt>
                <c:pt idx="2">
                  <c:v>44</c:v>
                </c:pt>
                <c:pt idx="3">
                  <c:v>39</c:v>
                </c:pt>
                <c:pt idx="4">
                  <c:v>37</c:v>
                </c:pt>
                <c:pt idx="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E29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035040" cy="6035040"/>
          </a:xfrm>
          <a:prstGeom prst="ellipse">
            <a:avLst/>
          </a:prstGeom>
          <a:solidFill>
            <a:srgbClr val="0E2038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822960"/>
            <a:ext cx="3657600" cy="3657600"/>
          </a:xfrm>
          <a:prstGeom prst="ellipse">
            <a:avLst/>
          </a:prstGeom>
          <a:solidFill>
            <a:srgbClr val="12294A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0" y="137160"/>
            <a:ext cx="1737360" cy="17373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1792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 ·  PROMPT-INJECTION RESEARCH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PIScanner</a:t>
            </a:r>
            <a:endParaRPr lang="en-US" sz="7000" dirty="0"/>
          </a:p>
        </p:txBody>
      </p:sp>
      <p:sp>
        <p:nvSpPr>
          <p:cNvPr id="8" name="Text 5"/>
          <p:cNvSpPr/>
          <p:nvPr/>
        </p:nvSpPr>
        <p:spPr>
          <a:xfrm>
            <a:off x="667512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prompt-injection testing for LLM chatbots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685800" y="4343400"/>
            <a:ext cx="32918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526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 Bist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· Viva &amp; Defense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github.com/lalitbist641/piscan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 can be hijacked with 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injection: a user hides an instruction in a message that makes the AI ignore its rules.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03120" y="25603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8568" y="271576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message with a hidden instruction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0233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480560" y="22860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5603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7157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754880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injected instruction, not its rules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680960" y="31089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8138160" y="228600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418320" y="256032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68" y="271576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12480" y="37490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Leaks secrets, misbehaves, or takes harmful actions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22960" y="4937760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FDECEC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5230368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783080" y="512064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LLM risk (OWASP LLM Top 10).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easy way to measure how vulnerable a deployed chatbot is — until PIScanner.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41932" y="2194560"/>
            <a:ext cx="768096" cy="768096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812" y="237744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chatbots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97280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real injection attacks at any chatbot, safely and repeatably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749040" y="18288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8012" y="2194560"/>
            <a:ext cx="768096" cy="768096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892" y="237744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97764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reliably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023360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genuine attack from a refusal — without crying wolf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75120" y="18288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94092" y="219456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972" y="237744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90372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benchmark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949440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PISecBench: a labeled dataset of attacks &amp; responses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9601200" y="182880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520172" y="2194560"/>
            <a:ext cx="768096" cy="76809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3052" y="2377440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2980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829800" y="3200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tool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875520" y="37033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CLI anyone can use to test and report vulnerabilities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tools exist — but a gap remains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03120"/>
            <a:ext cx="566928" cy="566928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2494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attacks by hand — slow, not repeatable, no metrics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03120"/>
            <a:ext cx="566928" cy="566928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2494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garak / PyRIT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81728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model or API, but not the deployed web widget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55280" y="1828800"/>
            <a:ext cx="3383280" cy="2011680"/>
          </a:xfrm>
          <a:prstGeom prst="roundRect">
            <a:avLst>
              <a:gd name="adj" fmla="val 636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0" y="2103120"/>
            <a:ext cx="566928" cy="566928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2494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promptfoo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47888" y="26974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your own prompts in CI, not a live third-party chatbot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22960" y="4160520"/>
            <a:ext cx="10515600" cy="1737360"/>
          </a:xfrm>
          <a:prstGeom prst="roundRect">
            <a:avLst>
              <a:gd name="adj" fmla="val 7368"/>
            </a:avLst>
          </a:prstGeom>
          <a:solidFill>
            <a:srgbClr val="14284A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0972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tool tested a live, deployed chatbot end-to-end — and validated whether attacks actually succeeded.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PIScanner, in one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515600" cy="1051560"/>
          </a:xfrm>
          <a:prstGeom prst="roundRect">
            <a:avLst>
              <a:gd name="adj" fmla="val 12174"/>
            </a:avLst>
          </a:prstGeom>
          <a:solidFill>
            <a:srgbClr val="E8F7F1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9339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8308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120+ attacks at a chatbot, record every reply, and grade which attacks actually worked.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51560" y="324612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74520" y="35661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3749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23444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61+ attacks in 7 categories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47288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3886200" y="324612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356616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749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2336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06908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 any chatbot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81928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6720840" y="324612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3566160"/>
            <a:ext cx="731520" cy="7315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37490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90372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success check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16568" y="3931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»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9555480" y="3246120"/>
            <a:ext cx="2377440" cy="2286000"/>
          </a:xfrm>
          <a:prstGeom prst="roundRect">
            <a:avLst>
              <a:gd name="adj" fmla="val 56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378440" y="35661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9264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9738360" y="4892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sets ground truth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local models (Ollama), any JSON chat API, and live website chat widgets.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189988"/>
            <a:ext cx="512064" cy="512064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3180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391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Payload Library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attacks · 7 categories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24612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24128" y="3561588"/>
            <a:ext cx="512064" cy="512064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36896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91640" y="3794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Browser (Playwright)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617720"/>
            <a:ext cx="3108960" cy="1143000"/>
          </a:xfrm>
          <a:prstGeom prst="roundRect">
            <a:avLst>
              <a:gd name="adj" fmla="val 112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24128" y="4933188"/>
            <a:ext cx="512064" cy="512064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506120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823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&amp; Store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91640" y="5166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JSON · SQLite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931920" y="2441448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931920" y="3813048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931920" y="5184648"/>
            <a:ext cx="73152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754880" y="1874520"/>
            <a:ext cx="3383280" cy="3886200"/>
          </a:xfrm>
          <a:prstGeom prst="roundRect">
            <a:avLst>
              <a:gd name="adj" fmla="val 3784"/>
            </a:avLst>
          </a:prstGeom>
          <a:solidFill>
            <a:srgbClr val="14284A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93776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CASCADE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83480" y="25146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C365C"/>
          </a:solidFill>
          <a:ln/>
        </p:spPr>
      </p:sp>
      <p:sp>
        <p:nvSpPr>
          <p:cNvPr id="26" name="Shape 21"/>
          <p:cNvSpPr/>
          <p:nvPr/>
        </p:nvSpPr>
        <p:spPr>
          <a:xfrm>
            <a:off x="5120640" y="2807208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2"/>
          <p:cNvSpPr/>
          <p:nvPr/>
        </p:nvSpPr>
        <p:spPr>
          <a:xfrm>
            <a:off x="5532120" y="26609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Keyword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532120" y="2990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pattern check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983480" y="3566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C365C"/>
          </a:solidFill>
          <a:ln/>
        </p:spPr>
      </p:sp>
      <p:sp>
        <p:nvSpPr>
          <p:cNvPr id="30" name="Shape 25"/>
          <p:cNvSpPr/>
          <p:nvPr/>
        </p:nvSpPr>
        <p:spPr>
          <a:xfrm>
            <a:off x="5120640" y="3858768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6"/>
          <p:cNvSpPr/>
          <p:nvPr/>
        </p:nvSpPr>
        <p:spPr>
          <a:xfrm>
            <a:off x="5532120" y="3712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Semantic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53212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similarity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983480" y="461772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C365C"/>
          </a:solidFill>
          <a:ln/>
        </p:spPr>
      </p:sp>
      <p:sp>
        <p:nvSpPr>
          <p:cNvPr id="34" name="Shape 29"/>
          <p:cNvSpPr/>
          <p:nvPr/>
        </p:nvSpPr>
        <p:spPr>
          <a:xfrm>
            <a:off x="5120640" y="4910328"/>
            <a:ext cx="310896" cy="31089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0"/>
          <p:cNvSpPr/>
          <p:nvPr/>
        </p:nvSpPr>
        <p:spPr>
          <a:xfrm>
            <a:off x="5532120" y="47640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LLM Judge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532120" y="5093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verdict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138160" y="3813048"/>
            <a:ext cx="64008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778240" y="2788920"/>
            <a:ext cx="2743200" cy="2011680"/>
          </a:xfrm>
          <a:prstGeom prst="roundRect">
            <a:avLst>
              <a:gd name="adj" fmla="val 6364"/>
            </a:avLst>
          </a:prstGeom>
          <a:solidFill>
            <a:srgbClr val="E8F7F1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8979408" y="3538728"/>
            <a:ext cx="512064" cy="512064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3666744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646920" y="29535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Verdict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964692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REFUSED / UNCLEAR → precision &amp; recall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2084832" cy="2651760"/>
          </a:xfrm>
          <a:prstGeom prst="roundRect">
            <a:avLst>
              <a:gd name="adj" fmla="val 614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9616" y="25146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499616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404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attack payloads by category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9504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054096" y="2194560"/>
            <a:ext cx="2084832" cy="2651760"/>
          </a:xfrm>
          <a:prstGeom prst="roundRect">
            <a:avLst>
              <a:gd name="adj" fmla="val 614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30752" y="2514600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45536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18688" y="38404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each to the target chatbot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12064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285232" y="2194560"/>
            <a:ext cx="2084832" cy="2651760"/>
          </a:xfrm>
          <a:prstGeom prst="roundRect">
            <a:avLst>
              <a:gd name="adj" fmla="val 6140"/>
            </a:avLst>
          </a:prstGeom>
          <a:solidFill>
            <a:srgbClr val="14284A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61888" y="2514600"/>
            <a:ext cx="731520" cy="7315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76672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9824" y="38404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reply with the cascade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51776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516368" y="2194560"/>
            <a:ext cx="2084832" cy="2651760"/>
          </a:xfrm>
          <a:prstGeom prst="roundRect">
            <a:avLst>
              <a:gd name="adj" fmla="val 614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93024" y="251460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193024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07808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80960" y="38404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confirms real successes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82912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747504" y="2194560"/>
            <a:ext cx="2084832" cy="2651760"/>
          </a:xfrm>
          <a:prstGeom prst="roundRect">
            <a:avLst>
              <a:gd name="adj" fmla="val 614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24160" y="25146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0424160" y="2514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838944" y="34290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12096" y="384048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Rates, findings &amp; false-positive 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296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checks run on every reply; the costly judge is used only to set ground truth.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proven, open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14016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603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414016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2560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Typer + Rich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30352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framework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414016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25603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23960" y="22128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httpx · Playwright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82396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browser probing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2296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379976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584" y="452628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Sentence-Transformers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78308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7720" y="4379976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452628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0352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· GPT-4o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30352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86384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38160" y="4379976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52628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23960" y="417880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· JSON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82396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datasets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Clean, modular Python package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2140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258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prober.py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5568" y="27614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probing · API, browser &amp; multi-turn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2140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585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detector.py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36008" y="27614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Compliance-aware keyword + semantic layers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6384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12140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2585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6528" y="21396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judge.py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156448" y="276148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(GPT-4o or local Ollama)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2296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08736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2245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55648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target.py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15568" y="47274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for any real chatbot API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7720" y="408736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2452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76088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browser.py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636008" y="47274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live website chat widgets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86384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38160" y="4087368"/>
            <a:ext cx="548640" cy="548640"/>
          </a:xfrm>
          <a:prstGeom prst="ellipse">
            <a:avLst/>
          </a:prstGeom>
          <a:solidFill>
            <a:srgbClr val="1428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22452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96528" y="41056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report.py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156448" y="4727448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HTML findings report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82296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lines · fully open-source · unit-tested with GitHub Actions CI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PIScanner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121408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2585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55648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attack categories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role, encoding, extraction, indirect, agentic, multi-turn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21408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585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76088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Compliance-aware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36008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 real hit from a refusal — no false alarms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182880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38160" y="212140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25856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96528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56448" y="2743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local or GPT-4o ground truth + precision/recall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97280" y="408736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22452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55648" y="4123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mode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15568" y="4709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live website chat widgets, not just APIs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4340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17720" y="408736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22452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76088" y="4123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Multi-model sweeps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36008" y="4709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how models resist the same attacks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863840" y="3794760"/>
            <a:ext cx="3429000" cy="1737360"/>
          </a:xfrm>
          <a:prstGeom prst="roundRect">
            <a:avLst>
              <a:gd name="adj" fmla="val 736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38160" y="4087368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22452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96528" y="4123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reports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156448" y="47091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findings with evidence per attack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DEMONSTRATION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a live demo chatbot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40080" y="178308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874520"/>
            <a:ext cx="3291840" cy="1965960"/>
          </a:xfrm>
          <a:prstGeom prst="roundRect">
            <a:avLst>
              <a:gd name="adj" fmla="val 6512"/>
            </a:avLst>
          </a:prstGeom>
          <a:solidFill>
            <a:srgbClr val="EAF2FF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53.6%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4124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attack success (59 / 110)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291840" cy="1965960"/>
          </a:xfrm>
          <a:prstGeom prst="roundRect">
            <a:avLst>
              <a:gd name="adj" fmla="val 6512"/>
            </a:avLst>
          </a:prstGeom>
          <a:solidFill>
            <a:srgbClr val="E8F7F1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0" y="41148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412480" y="5166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benign traffic (0 / 15)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stands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98424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9397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2880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deployed product — including live web widgets, not just the raw model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2697480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285292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9626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69748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Judge-validated metrics — you can measure how good the cheap detectors are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22960" y="3566160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372160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38313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56616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false-positive rate — trustworthy, not just a list of 'hits'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822960" y="4434840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51560" y="459028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70001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91640" y="443484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private option — runs fully offline with local models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822960" y="5303520"/>
            <a:ext cx="105156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51560" y="5458968"/>
            <a:ext cx="438912" cy="43891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556869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91640" y="5303520"/>
            <a:ext cx="9509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&amp; cross-platform — Windows, macOS and Kali Linux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566160"/>
            <a:ext cx="9692640" cy="0"/>
          </a:xfrm>
          <a:prstGeom prst="line">
            <a:avLst/>
          </a:prstGeom>
          <a:noFill/>
          <a:ln w="25400">
            <a:solidFill>
              <a:srgbClr val="E5EA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19656" y="336499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819656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1847088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16152" y="22585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GPT-4o judge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16152" y="26517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Commercial-grade ground truth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20824" y="3200400"/>
            <a:ext cx="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41064" y="336499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941064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18688" y="3977640"/>
            <a:ext cx="1847088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40873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DistilBERT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37560" y="44805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detector beats keywords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42232" y="3566160"/>
            <a:ext cx="0" cy="4114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2472" y="3364992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062472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40096" y="2148840"/>
            <a:ext cx="1847088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58968" y="22585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 tests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58968" y="26517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Llama-Guard, NeMo evaluation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3200400"/>
            <a:ext cx="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61504" y="3977640"/>
            <a:ext cx="1847088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0376" y="40873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real sites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580376" y="44805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authorized evaluation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85048" y="3566160"/>
            <a:ext cx="0" cy="411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05288" y="3364992"/>
            <a:ext cx="402336" cy="40233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30528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582912" y="2148840"/>
            <a:ext cx="1847088" cy="1051560"/>
          </a:xfrm>
          <a:prstGeom prst="roundRect">
            <a:avLst>
              <a:gd name="adj" fmla="val 12174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14300" dist="38100" dir="5400000">
              <a:srgbClr val="0A1628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701784" y="2258568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PISecBench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701784" y="265176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benchmark on HuggingFace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506456" y="3200400"/>
            <a:ext cx="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solidFill>
            <a:srgbClr val="0E203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tool — and a foundation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463040"/>
            <a:ext cx="5486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202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working, open-source scanner for prompt-injection in chatbots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175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8803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cost-aware detection cascade validated by an LLM judge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776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8404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real deployed chatbots — local models, APIs and web widgets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3776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80060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PISecBench and a reproducible evaluation workflow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PIScanner turns “I built a tool” into “I can measure how safe a chatbot is.”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035040" cy="6035040"/>
          </a:xfrm>
          <a:prstGeom prst="ellipse">
            <a:avLst/>
          </a:prstGeom>
          <a:solidFill>
            <a:srgbClr val="0E2038"/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37160"/>
            <a:ext cx="1737360" cy="173736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2" y="621792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70408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13232" y="4297680"/>
            <a:ext cx="3291840" cy="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1C36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727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github.com/lalitbist641/piscan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1C36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294376"/>
            <a:ext cx="237744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5193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 Bist  ·  PIScanner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PIScanner</dc:title>
  <dc:subject>PptxGenJS Presentation</dc:subject>
  <dc:creator>Lalit Bist</dc:creator>
  <cp:lastModifiedBy>Lalit Bist</cp:lastModifiedBy>
  <cp:revision>1</cp:revision>
  <dcterms:created xsi:type="dcterms:W3CDTF">2026-07-06T15:26:34Z</dcterms:created>
  <dcterms:modified xsi:type="dcterms:W3CDTF">2026-07-06T15:26:34Z</dcterms:modified>
</cp:coreProperties>
</file>